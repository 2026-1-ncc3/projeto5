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0625" cx="28800425"/>
  <p:notesSz cx="6858000" cy="9144000"/>
  <p:embeddedFontLst>
    <p:embeddedFont>
      <p:font typeface="Inter"/>
      <p:regular r:id="rId7"/>
      <p:bold r:id="rId8"/>
      <p:italic r:id="rId9"/>
      <p:boldItalic r:id="rId10"/>
    </p:embeddedFont>
    <p:embeddedFont>
      <p:font typeface="Open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g7d35D0msgMTaR7ho22RPedW1+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66" orient="horz"/>
        <p:guide pos="54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regular.fntdata"/><Relationship Id="rId10" Type="http://schemas.openxmlformats.org/officeDocument/2006/relationships/font" Target="fonts/Inter-boldItalic.fntdata"/><Relationship Id="rId13" Type="http://schemas.openxmlformats.org/officeDocument/2006/relationships/font" Target="fonts/OpenSans-italic.fntdata"/><Relationship Id="rId12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italic.fntdata"/><Relationship Id="rId15" Type="http://customschemas.google.com/relationships/presentationmetadata" Target="metadata"/><Relationship Id="rId14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b="1" sz="7623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indent="-567436" lvl="1" marL="9144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indent="-519049" lvl="2" marL="1371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indent="-470599" lvl="3" marL="1828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indent="-470598" lvl="4" marL="22860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indent="-470598" lvl="5" marL="2743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indent="-470598" lvl="6" marL="3200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indent="-470598" lvl="7" marL="3657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indent="-470598" lvl="8" marL="4114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b="0" i="0" sz="83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marR="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b="0" i="0" sz="60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67436" lvl="1" marL="9144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b="0" i="0" sz="53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19049" lvl="2" marL="1371600" marR="0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b="0" i="0" sz="45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70599" lvl="3" marL="1828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70598" lvl="4" marL="22860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70598" lvl="5" marL="27432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70598" lvl="6" marL="32004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70598" lvl="7" marL="36576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70598" lvl="8" marL="4114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2.png"/><Relationship Id="rId13" Type="http://schemas.openxmlformats.org/officeDocument/2006/relationships/image" Target="../media/image12.png"/><Relationship Id="rId1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6.png"/><Relationship Id="rId15" Type="http://schemas.openxmlformats.org/officeDocument/2006/relationships/image" Target="../media/image9.jpg"/><Relationship Id="rId1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4F3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rect b="b" l="l" r="r" t="t"/>
              <a:pathLst>
                <a:path extrusionOk="0" h="607578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rect b="b" l="l" r="r" t="t"/>
              <a:pathLst>
                <a:path extrusionOk="0" h="870076" w="3163653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l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rect b="b" l="l" r="r" t="t"/>
              <a:pathLst>
                <a:path extrusionOk="0" h="841941" w="3225442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rect b="b" l="l" r="r" t="t"/>
              <a:pathLst>
                <a:path extrusionOk="0" h="739677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54247"/>
            <a:ext cx="29303943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rect b="b" l="l" r="r" t="t"/>
              <a:pathLst>
                <a:path extrusionOk="0" h="819899" w="3218728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rect b="b" l="l" r="r" t="t"/>
              <a:pathLst>
                <a:path extrusionOk="0" h="803341" w="2755436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0939017" y="13420436"/>
            <a:ext cx="20731171" cy="13057756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rect b="b" l="l" r="r" t="t"/>
              <a:pathLst>
                <a:path extrusionOk="0" h="1176995" w="1922704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75" y="30011224"/>
            <a:ext cx="13848535" cy="8372959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rect b="b" l="l" r="r" t="t"/>
              <a:pathLst>
                <a:path extrusionOk="0" h="820732" w="1302166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289000" y="30011233"/>
            <a:ext cx="12527629" cy="8372803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rect b="b" l="l" r="r" t="t"/>
                <a:pathLst>
                  <a:path extrusionOk="0" h="814469" w="1329056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6800" lIns="96800" spcFirstLastPara="1" rIns="96800" wrap="square" tIns="96800">
                <a:noAutofit/>
              </a:bodyPr>
              <a:lstStyle/>
              <a:p>
                <a:pPr indent="0" lvl="0" marL="0" marR="0" rtl="0" algn="ctr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700" cy="49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62"/>
                <a:buFont typeface="Arial"/>
                <a:buNone/>
              </a:pPr>
              <a:r>
                <a:rPr b="1" i="0" lang="en-US" sz="4762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rect b="b" l="l" r="r" t="t"/>
            <a:pathLst>
              <a:path extrusionOk="0" h="1287851" w="4497722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rect b="b" l="l" r="r" t="t"/>
            <a:pathLst>
              <a:path extrusionOk="0" h="1225321" w="3793089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7"/>
              <a:buFont typeface="Arial"/>
              <a:buNone/>
            </a:pPr>
            <a:r>
              <a:rPr b="1" i="0" lang="en-US" sz="507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19" name="Google Shape;119;p1"/>
            <p:cNvSpPr/>
            <p:nvPr/>
          </p:nvSpPr>
          <p:spPr>
            <a:xfrm>
              <a:off x="0" y="0"/>
              <a:ext cx="958980" cy="1301139"/>
            </a:xfrm>
            <a:custGeom>
              <a:rect b="b" l="l" r="r" t="t"/>
              <a:pathLst>
                <a:path extrusionOk="0" h="1301139" w="95898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"/>
          <p:cNvGrpSpPr/>
          <p:nvPr/>
        </p:nvGrpSpPr>
        <p:grpSpPr>
          <a:xfrm rot="-5400000">
            <a:off x="2460145" y="17961211"/>
            <a:ext cx="10275743" cy="14355435"/>
            <a:chOff x="0" y="-47625"/>
            <a:chExt cx="936167" cy="1348764"/>
          </a:xfrm>
        </p:grpSpPr>
        <p:sp>
          <p:nvSpPr>
            <p:cNvPr id="122" name="Google Shape;122;p1"/>
            <p:cNvSpPr/>
            <p:nvPr/>
          </p:nvSpPr>
          <p:spPr>
            <a:xfrm>
              <a:off x="0" y="0"/>
              <a:ext cx="936167" cy="1301139"/>
            </a:xfrm>
            <a:custGeom>
              <a:rect b="b" l="l" r="r" t="t"/>
              <a:pathLst>
                <a:path extrusionOk="0" h="1301139" w="936167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"/>
          <p:cNvSpPr/>
          <p:nvPr/>
        </p:nvSpPr>
        <p:spPr>
          <a:xfrm>
            <a:off x="22527251" y="36801439"/>
            <a:ext cx="5609093" cy="5642282"/>
          </a:xfrm>
          <a:custGeom>
            <a:rect b="b" l="l" r="r" t="t"/>
            <a:pathLst>
              <a:path extrusionOk="0" h="2960783" w="2943367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-1" y="4700167"/>
            <a:ext cx="28813800" cy="3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34"/>
              <a:buFont typeface="Arial"/>
              <a:buNone/>
            </a:pPr>
            <a:r>
              <a:rPr b="1" lang="en-US" sz="11434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ATLAS - Clínica Maya Yamamoto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4"/>
              <a:buFont typeface="Arial"/>
              <a:buNone/>
            </a:pPr>
            <a:r>
              <a:t/>
            </a:r>
            <a:endParaRPr b="1" sz="11434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2404768" y="6355587"/>
            <a:ext cx="24286200" cy="27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62"/>
              <a:buFont typeface="Arial"/>
              <a:buNone/>
            </a:pPr>
            <a:r>
              <a:rPr b="1" lang="en-US" sz="4762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Bruno Nóbrega, Julia Pereira, Mariana Almeida, Rafaela Florêncio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62"/>
              <a:buFont typeface="Arial"/>
              <a:buNone/>
            </a:pPr>
            <a:r>
              <a:rPr b="1" lang="en-US" sz="4762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Orientadores: </a:t>
            </a:r>
            <a:r>
              <a:rPr lang="en-US" sz="4762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Katia Bossi, Marco Aurelio Lima, Rodrigo da Rosa, Victor Rosetti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t/>
            </a:r>
            <a:endParaRPr b="1" sz="4762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15353293" y="15839628"/>
            <a:ext cx="1243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15966975" y="31719851"/>
            <a:ext cx="11400000" cy="6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BRASIL. Ministério da Saúde. Sistemas de Informação da Atenção à Saúde: Contextos Históricos, Avanços e Perspectivas no SUS. Brasília: Cidade Gráfica e Editora LTDA, 2015.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STROPARO, Telma Regina; GUERRA, Avaetê de Lunetta e Rodrigues; CORDEIRO, Elaine da Silva; LEMOS, Valéria Aparecida; BOCHNIAK, Beatriz. Tecnologias Disruptivas e Inteligência Artificial: Impulsionando a Agenda dos Objetivos de Desenvolvimento Sustentável (ODS). Revista Acadêmica da Lusofonia, v. 1, n. 2, p. 1–11, 2024.</a:t>
            </a:r>
            <a:endParaRPr sz="30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1595875" y="31719850"/>
            <a:ext cx="12562800" cy="6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0"/>
              <a:buFont typeface="Arial"/>
              <a:buNone/>
            </a:pPr>
            <a:r>
              <a:rPr lang="en-US" sz="343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 frontend foi criado com React, JavaScript e TypeScript, garantindo uma interface dinâmica e responsiva. Para o backend e armazenamento seguro dos dados, utilizamos o PostgreSQL, oferecendo integração rápida e eficiente com banco de dados e autenticação. Já o aplicativo mobile foi desenvolvido no Android Studio utilizando Java, permitindo uma experiência prática e acessível para os usuários. </a:t>
            </a:r>
            <a:endParaRPr sz="343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0"/>
              <a:buFont typeface="Arial"/>
              <a:buNone/>
            </a:pPr>
            <a:r>
              <a:t/>
            </a:r>
            <a:endParaRPr sz="343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1595870" y="10749184"/>
            <a:ext cx="12562800" cy="9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0"/>
              <a:buFont typeface="Arial"/>
              <a:buNone/>
            </a:pPr>
            <a:r>
              <a:rPr lang="en-US" sz="343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Clínica Maya Yamamoto enfrenta desafios que limitam seu potencial de crescimento e eficiência operacional. Atualmente, seus processos são na sua maioria, manuais.</a:t>
            </a:r>
            <a:endParaRPr sz="343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0"/>
              <a:buFont typeface="Arial"/>
              <a:buNone/>
            </a:pPr>
            <a:r>
              <a:rPr lang="en-US" sz="343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Esse modelo operacional consome tempo, aumenta a ocorrência de falhas e impede uma visão estratégica do negócio. A ausência de uma plataforma unificada resulta em uma gestão fragmentada, dificultando o acompanhamento adequado dos pacientes e comprometendo a qualidade do atendimento.</a:t>
            </a:r>
            <a:endParaRPr sz="343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Dessa forma, um ambiente com grande potencial permanece limitado por processos ineficientes e pela ausência de uma experiência digital estruturada.</a:t>
            </a:r>
            <a:endParaRPr sz="343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1570066" y="21125709"/>
            <a:ext cx="12562800" cy="9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 partir das dificuldades enfrentadas pela fisioterapeuta Maya Yamamoto no acompanhamento de seus pacientes, surge uma proposta digital. Atualmente, parte da comunicação e dos registros clínicos é realizada de forma dispersa. Além disso, a ausência de um sistema centralizado compromete a rastreabilidade dos prontuários, o planejamento e envio de exercícios domiciliares, bem como o controle eficiente da agenda de consultas. Esses problemas podem gerar falhas operacionais, retrabalho e dificuldade na gestão dos atendimentos.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Diante disso, foi proposta a criação de uma plataforma digital integrada a um aplicativo mobile, com o objetivo de centralizar os dados dos pacientes, otimizar a comunicação, facilitar o gerenciamento clínico e tornar o atendimento mais organizado, seguro e eficiente.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1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IV SEMANA FECAP DE TECNOLOGIA - 2026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0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617816" y="10880630"/>
            <a:ext cx="11904300" cy="9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0"/>
              <a:buFont typeface="Arial"/>
              <a:buNone/>
            </a:pPr>
            <a:r>
              <a:rPr lang="en-US" sz="343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 a implementação da plataforma digital na clínica de fisioterapia da Dra. Maya Yamamoto, espera-se uma significativa melhoria na eficiência administrativa e na qualidade do atendimento. O sistema deverá otimizar o agendamento de consultas, reduzir falhas operacionais e facilitar o acesso aos prontuários clínicos. Além disso, prevê-se maior integração entre pacientes e profissionais, com comunicação mais ágil e acompanhamento contínuo dos tratamentos. A digitalização dos processos contribuirá para a sustentabilidade e para a segurança das informações, tornando o ambiente clínico mais moderno e organizado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5743975" y="25917112"/>
            <a:ext cx="11652000" cy="4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0"/>
              <a:buFont typeface="Arial"/>
              <a:buNone/>
            </a:pPr>
            <a:r>
              <a:rPr lang="en-US" sz="343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Como resultado, a adoção da plataforma possibilita um atendimento mais moderno, seguro e acessível, contribuindo para uma melhor experiência tanto para a profissional quanto para os pacientes, promovendo mais praticidade, organização e eficiência nos processos internos. 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9" name="Google Shape;139;p1" title="download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35425" y="36908875"/>
            <a:ext cx="1254550" cy="111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" title="React-icon.sv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70073" y="36908867"/>
            <a:ext cx="1254548" cy="1116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" title="download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017213" y="36745225"/>
            <a:ext cx="1443400" cy="14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" title="download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747825" y="36786288"/>
            <a:ext cx="1361275" cy="136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" title="Postgresql_elephant.svg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294175" y="36801462"/>
            <a:ext cx="1290634" cy="1330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5403300" y="19521150"/>
            <a:ext cx="8302216" cy="583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4333100" y="19472599"/>
            <a:ext cx="2590800" cy="5642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" title="download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100775" y="36801450"/>
            <a:ext cx="1254550" cy="133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" title="download.jp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179436" y="36745226"/>
            <a:ext cx="1290625" cy="12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"/>
          <p:cNvSpPr txBox="1"/>
          <p:nvPr/>
        </p:nvSpPr>
        <p:spPr>
          <a:xfrm>
            <a:off x="15336206" y="25191042"/>
            <a:ext cx="124332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0" i="0" lang="en-US" sz="343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Autoria Própria (202</a:t>
            </a:r>
            <a:r>
              <a:rPr lang="en-US" sz="3430">
                <a:latin typeface="Inter"/>
                <a:ea typeface="Inter"/>
                <a:cs typeface="Inter"/>
                <a:sym typeface="Inter"/>
              </a:rPr>
              <a:t>6</a:t>
            </a:r>
            <a:r>
              <a:rPr b="0" i="0" lang="en-US" sz="343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